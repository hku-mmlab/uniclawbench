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Arial"/>
              </a:rPr>
              <a:t>ELEC8111 · Embodied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"/>
              </a:rPr>
              <a:t>Paper Title Goes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108960"/>
            <a:ext cx="3657600" cy="381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2E8F0"/>
                </a:solidFill>
                <a:latin typeface="Arial"/>
              </a:rPr>
              <a:t>Conference Name &amp; Year  |  Subtopic X: Topic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  <a:latin typeface="Arial"/>
              </a:rPr>
              <a:t>Presented by: [Your Name]  ·  Group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18096"/>
                </a:solidFill>
                <a:latin typeface="Arial"/>
              </a:rPr>
              <a:t>Plan A: Capability Evolution  —  Foundation → Perception → Closed-Loop → Long-Horizon → Generalization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Subtopic X: [Topic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  <a:latin typeface="Arial"/>
              </a:rPr>
              <a:t>Transition from Subtopic X-1 — Bridging the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475488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65D"/>
                </a:solidFill>
                <a:latin typeface="Arial"/>
              </a:rPr>
              <a:t>Subtopic X-1: What We Achieved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47672"/>
            <a:ext cx="4389120" cy="25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>
                <a:solidFill>
                  <a:srgbClr val="2D3748"/>
                </a:solidFill>
                <a:latin typeface="Arial"/>
              </a:rPr>
              <a:t>■  Achievement 1: describe the key result of the previous subtopic.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D3748"/>
                </a:solidFill>
                <a:latin typeface="Arial"/>
              </a:rPr>
              <a:t>■  Achievement 2: describe another key result.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D3748"/>
                </a:solidFill>
                <a:latin typeface="Arial"/>
              </a:rPr>
              <a:t>■  Limitation (The Gap): describe what the previous approach cannot handle.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2743200"/>
            <a:ext cx="1371600" cy="381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23317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53E3E"/>
                </a:solidFill>
                <a:latin typeface="Arial"/>
              </a:rPr>
              <a:t>The Gap  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508760"/>
            <a:ext cx="475488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600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65D"/>
                </a:solidFill>
                <a:latin typeface="Arial"/>
              </a:rPr>
              <a:t>Subtopic X: What We Need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947672"/>
            <a:ext cx="4389120" cy="25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05740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>
                <a:solidFill>
                  <a:srgbClr val="2D3748"/>
                </a:solidFill>
                <a:latin typeface="Arial"/>
              </a:rPr>
              <a:t>■  Goal 1: describe the new capability this subtopic targets.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D3748"/>
                </a:solidFill>
                <a:latin typeface="Arial"/>
              </a:rPr>
              <a:t>■  Goal 2: describe another dimension of the new goal.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D3748"/>
                </a:solidFill>
                <a:latin typeface="Arial"/>
              </a:rPr>
              <a:t>■  Evolution: describe the broader direction or paradigm shift.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166360"/>
            <a:ext cx="11247120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230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  <a:latin typeface="Arial"/>
              </a:rPr>
              <a:t>KEY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32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"Replace this with the one-sentence key question for your subtopic."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Paper Title (Abbreviated)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  <a:latin typeface="Arial"/>
              </a:rPr>
              <a:t>Conference Year  |  Part 1: Motivation &amp; Method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65D"/>
                </a:solidFill>
                <a:latin typeface="Arial"/>
              </a:rPr>
              <a:t>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56232"/>
            <a:ext cx="5303520" cy="25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>
                <a:solidFill>
                  <a:srgbClr val="2D3748"/>
                </a:solidFill>
                <a:latin typeface="Arial"/>
              </a:rPr>
              <a:t>■  What problem does this paper address?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D3748"/>
                </a:solidFill>
                <a:latin typeface="Arial"/>
              </a:rPr>
              <a:t>■  Why do existing methods fail to solve 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65D"/>
                </a:solidFill>
                <a:latin typeface="Arial"/>
              </a:rPr>
              <a:t>Core Idea / 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39312"/>
            <a:ext cx="5303520" cy="25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>
                <a:solidFill>
                  <a:srgbClr val="2D3748"/>
                </a:solidFill>
                <a:latin typeface="Arial"/>
              </a:rPr>
              <a:t>■  Component 1: brief description of the first key module.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D3748"/>
                </a:solidFill>
                <a:latin typeface="Arial"/>
              </a:rPr>
              <a:t>■  Component 2: brief description of the second key module.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D3748"/>
                </a:solidFill>
                <a:latin typeface="Arial"/>
              </a:rPr>
              <a:t>■  Component 3: brief description of the third key module.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548640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200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A0AEC0"/>
                </a:solidFill>
                <a:latin typeface="Arial"/>
              </a:rPr>
              <a:t>[ Insert Architecture / System Diagram Here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715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18096"/>
                </a:solidFill>
                <a:latin typeface="Arial"/>
              </a:rPr>
              <a:t>Figure: Caption describing the diagram.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2E8F0"/>
                </a:solidFill>
                <a:latin typeface="Arial"/>
              </a:rPr>
              <a:t>Tip: Replace the placeholder with the paper's architecture figure (use Insert → Picture in PowerPoint).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Paper Title (Abbreviated)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  <a:latin typeface="Arial"/>
              </a:rPr>
              <a:t>Conference Year  |  Part 2: Experimental Results &amp;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35661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3566160" cy="4114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Key Result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500">
                <a:solidFill>
                  <a:srgbClr val="2D3748"/>
                </a:solidFill>
                <a:latin typeface="Arial"/>
              </a:rPr>
              <a:t>■  Metric 1: XX% improvement over baseline.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2D3748"/>
                </a:solidFill>
                <a:latin typeface="Arial"/>
              </a:rPr>
              <a:t>■  Metric 2: describe the quantitative gain.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2D3748"/>
                </a:solidFill>
                <a:latin typeface="Arial"/>
              </a:rPr>
              <a:t>■  Benchmark: name the dataset / environment used.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508760"/>
            <a:ext cx="35661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0" y="1508760"/>
            <a:ext cx="3566160" cy="4114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5544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Key Result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05740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500">
                <a:solidFill>
                  <a:srgbClr val="2D3748"/>
                </a:solidFill>
                <a:latin typeface="Arial"/>
              </a:rPr>
              <a:t>■  Generalization: describe cross-domain performance.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2D3748"/>
                </a:solidFill>
                <a:latin typeface="Arial"/>
              </a:rPr>
              <a:t>■  Robustness: describe performance under perturbation.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2D3748"/>
                </a:solidFill>
                <a:latin typeface="Arial"/>
              </a:rPr>
              <a:t>■  Efficiency: describe compute or sample efficiency.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1508760"/>
            <a:ext cx="35661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1508760"/>
            <a:ext cx="3566160" cy="4114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15544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Limitations /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05740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500">
                <a:solidFill>
                  <a:srgbClr val="2D3748"/>
                </a:solidFill>
                <a:latin typeface="Arial"/>
              </a:rPr>
              <a:t>■  Limitation 1: what the method still cannot handle.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2D3748"/>
                </a:solidFill>
                <a:latin typeface="Arial"/>
              </a:rPr>
              <a:t>■  Limitation 2: another open challenge.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2D3748"/>
                </a:solidFill>
                <a:latin typeface="Arial"/>
              </a:rPr>
              <a:t>■  → This motivates the next subtopic / future 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806440"/>
            <a:ext cx="114300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806440"/>
            <a:ext cx="109728" cy="77724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8704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Conclusion: Write a one-sentence take-away that connects this paper to the subtopic's key question.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Paper Comparison &amp; Subtopic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  <a:latin typeface="Arial"/>
              </a:rPr>
              <a:t>Subtopic X: [Topic Title]  —  Connecting the Papers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2286000" cy="47548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581912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Paper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508760"/>
            <a:ext cx="2286000" cy="47548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24912" y="1581912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508760"/>
            <a:ext cx="2286000" cy="47548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581912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Key Contribution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508760"/>
            <a:ext cx="2286000" cy="47548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96912" y="1581912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Limitation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1508760"/>
            <a:ext cx="2587752" cy="47548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82912" y="1581912"/>
            <a:ext cx="2441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Venue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84248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048256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748"/>
                </a:solidFill>
                <a:latin typeface="Arial"/>
              </a:rPr>
              <a:t>Paper A (Year)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1984248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24912" y="2048256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748"/>
                </a:solidFill>
                <a:latin typeface="Arial"/>
              </a:rPr>
              <a:t>Method description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984248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10912" y="2048256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748"/>
                </a:solidFill>
                <a:latin typeface="Arial"/>
              </a:rPr>
              <a:t>Key contribution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1984248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96912" y="2048256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748"/>
                </a:solidFill>
                <a:latin typeface="Arial"/>
              </a:rPr>
              <a:t>Limitation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1984248"/>
            <a:ext cx="258775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2048256"/>
            <a:ext cx="2441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748"/>
                </a:solidFill>
                <a:latin typeface="Arial"/>
              </a:rPr>
              <a:t>Conf. Year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459736"/>
            <a:ext cx="22860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2523744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748"/>
                </a:solidFill>
                <a:latin typeface="Arial"/>
              </a:rPr>
              <a:t>Paper B (Year)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2459736"/>
            <a:ext cx="22860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24912" y="2523744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748"/>
                </a:solidFill>
                <a:latin typeface="Arial"/>
              </a:rPr>
              <a:t>Method description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0" y="2459736"/>
            <a:ext cx="22860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10912" y="2523744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748"/>
                </a:solidFill>
                <a:latin typeface="Arial"/>
              </a:rPr>
              <a:t>Key contribution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2459736"/>
            <a:ext cx="22860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96912" y="2523744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748"/>
                </a:solidFill>
                <a:latin typeface="Arial"/>
              </a:rPr>
              <a:t>Limitation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2459736"/>
            <a:ext cx="2587752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82912" y="2523744"/>
            <a:ext cx="2441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748"/>
                </a:solidFill>
                <a:latin typeface="Arial"/>
              </a:rPr>
              <a:t>Conf. Year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3337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65D"/>
                </a:solidFill>
                <a:latin typeface="Arial"/>
              </a:rPr>
              <a:t>Subtopic Summary &amp; Transition to Next Topic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685032"/>
            <a:ext cx="11430000" cy="25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79476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700">
                <a:solidFill>
                  <a:srgbClr val="2D3748"/>
                </a:solidFill>
                <a:latin typeface="Arial"/>
              </a:rPr>
              <a:t>■  What the papers in this subtopic collectively achieved.</a:t>
            </a:r>
          </a:p>
          <a:p>
            <a:pPr algn="l">
              <a:spcBef>
                <a:spcPts val="600"/>
              </a:spcBef>
            </a:pPr>
            <a:r>
              <a:rPr sz="1700">
                <a:solidFill>
                  <a:srgbClr val="2D3748"/>
                </a:solidFill>
                <a:latin typeface="Arial"/>
              </a:rPr>
              <a:t>■  The remaining open challenge that motivates the next subtopic.</a:t>
            </a:r>
          </a:p>
          <a:p>
            <a:pPr algn="l">
              <a:spcBef>
                <a:spcPts val="600"/>
              </a:spcBef>
            </a:pPr>
            <a:r>
              <a:rPr sz="1700">
                <a:solidFill>
                  <a:srgbClr val="2D3748"/>
                </a:solidFill>
                <a:latin typeface="Arial"/>
              </a:rPr>
              <a:t>■  One-sentence bridge: 'Having addressed X, the next question becomes Y...'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400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2E8F0"/>
                </a:solidFill>
                <a:latin typeface="Arial"/>
              </a:rPr>
              <a:t>Add more rows to the table as needed. Keep font sizes consistent.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